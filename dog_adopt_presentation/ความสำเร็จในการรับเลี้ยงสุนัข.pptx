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oppins" charset="1" panose="00000500000000000000"/>
      <p:regular r:id="rId25"/>
    </p:embeddedFont>
    <p:embeddedFont>
      <p:font typeface="Poppins Light" charset="1" panose="00000400000000000000"/>
      <p:regular r:id="rId26"/>
    </p:embeddedFont>
    <p:embeddedFont>
      <p:font typeface="Poppins Extra-Light" charset="1" panose="00000300000000000000"/>
      <p:regular r:id="rId27"/>
    </p:embeddedFont>
    <p:embeddedFont>
      <p:font typeface="Poppins Bold" charset="1" panose="00000800000000000000"/>
      <p:regular r:id="rId28"/>
    </p:embeddedFont>
    <p:embeddedFont>
      <p:font typeface="Canva Sans Bold" charset="1" panose="020B08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943954" y="3790561"/>
            <a:ext cx="8400092" cy="1587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48"/>
              </a:lnSpc>
            </a:pPr>
            <a:r>
              <a:rPr lang="en-US" sz="87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DOG ADOPTION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155132" y="5482893"/>
            <a:ext cx="9977737" cy="47625"/>
            <a:chOff x="0" y="0"/>
            <a:chExt cx="2627881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7881" cy="12543"/>
            </a:xfrm>
            <a:custGeom>
              <a:avLst/>
              <a:gdLst/>
              <a:ahLst/>
              <a:cxnLst/>
              <a:rect r="r" b="b" t="t" l="l"/>
              <a:pathLst>
                <a:path h="12543" w="2627881">
                  <a:moveTo>
                    <a:pt x="0" y="0"/>
                  </a:moveTo>
                  <a:lnTo>
                    <a:pt x="2627881" y="0"/>
                  </a:lnTo>
                  <a:lnTo>
                    <a:pt x="2627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627881" cy="6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69019" y="5587754"/>
            <a:ext cx="654996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9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127137"/>
            <a:ext cx="7471004" cy="6792801"/>
          </a:xfrm>
          <a:custGeom>
            <a:avLst/>
            <a:gdLst/>
            <a:ahLst/>
            <a:cxnLst/>
            <a:rect r="r" b="b" t="t" l="l"/>
            <a:pathLst>
              <a:path h="6792801" w="7471004">
                <a:moveTo>
                  <a:pt x="0" y="0"/>
                </a:moveTo>
                <a:lnTo>
                  <a:pt x="7471004" y="0"/>
                </a:lnTo>
                <a:lnTo>
                  <a:pt x="7471004" y="6792800"/>
                </a:lnTo>
                <a:lnTo>
                  <a:pt x="0" y="679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3127137"/>
            <a:ext cx="7972868" cy="5746003"/>
          </a:xfrm>
          <a:custGeom>
            <a:avLst/>
            <a:gdLst/>
            <a:ahLst/>
            <a:cxnLst/>
            <a:rect r="r" b="b" t="t" l="l"/>
            <a:pathLst>
              <a:path h="5746003" w="7972868">
                <a:moveTo>
                  <a:pt x="0" y="0"/>
                </a:moveTo>
                <a:lnTo>
                  <a:pt x="7972868" y="0"/>
                </a:lnTo>
                <a:lnTo>
                  <a:pt x="7972868" y="5746003"/>
                </a:lnTo>
                <a:lnTo>
                  <a:pt x="0" y="5746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3007014"/>
            <a:ext cx="7972868" cy="158223"/>
            <a:chOff x="0" y="0"/>
            <a:chExt cx="2099850" cy="416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99850" cy="41672"/>
            </a:xfrm>
            <a:custGeom>
              <a:avLst/>
              <a:gdLst/>
              <a:ahLst/>
              <a:cxnLst/>
              <a:rect r="r" b="b" t="t" l="l"/>
              <a:pathLst>
                <a:path h="41672" w="2099850">
                  <a:moveTo>
                    <a:pt x="0" y="0"/>
                  </a:moveTo>
                  <a:lnTo>
                    <a:pt x="2099850" y="0"/>
                  </a:lnTo>
                  <a:lnTo>
                    <a:pt x="2099850" y="41672"/>
                  </a:lnTo>
                  <a:lnTo>
                    <a:pt x="0" y="41672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99850" cy="79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773837"/>
            <a:ext cx="464825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ABOUT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25002" y="2179617"/>
            <a:ext cx="5837996" cy="59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33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42,000 Records 32 Features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19980" y="234497"/>
            <a:ext cx="1011138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68765" y="6172200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5" y="0"/>
                </a:lnTo>
                <a:lnTo>
                  <a:pt x="30192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676118" y="2019935"/>
            <a:ext cx="8935763" cy="8181808"/>
          </a:xfrm>
          <a:custGeom>
            <a:avLst/>
            <a:gdLst/>
            <a:ahLst/>
            <a:cxnLst/>
            <a:rect r="r" b="b" t="t" l="l"/>
            <a:pathLst>
              <a:path h="8181808" w="8935763">
                <a:moveTo>
                  <a:pt x="0" y="0"/>
                </a:moveTo>
                <a:lnTo>
                  <a:pt x="8935764" y="0"/>
                </a:lnTo>
                <a:lnTo>
                  <a:pt x="8935764" y="8181808"/>
                </a:lnTo>
                <a:lnTo>
                  <a:pt x="0" y="8181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70569" y="234497"/>
            <a:ext cx="1109960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73837"/>
            <a:ext cx="7650450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CORRELATION MATRIX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769007" y="234497"/>
            <a:ext cx="1113086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73837"/>
            <a:ext cx="7650450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 TOPIC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4111" y="3531332"/>
            <a:ext cx="15156382" cy="3743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--- ภาพรวมของข้อมูล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RISK BY “DOG”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--- ความเสี่ยงจากตัวสุนัขที่ก่อให้เกิดการรับเลี้ยงไม่สำเร็จ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RISK BY “HOUSING , MATCHING”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--- ปัญหาจากความเข้ากันไม่ได้ของสุนัขและผู้รับเลี้ยงหรือบ้านที่ก่อให้เกิดการรับเลี้ยงไม่สำเร็จ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RISK BY “ADOPTER”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--- ความเสี่ยงจากผู้รับเลี้ยงที่ก่อให้เกิดการรับเลี้ยงไม่สำเร็จ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PREPARATION FOR “ADOPTER”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–-- การเตรียมความพร้อมของผู้รับเลี้ยงเพื่อลดความเสี่ยงในการรับเลี้ยงไม่สำเร็จ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52085" y="7732460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5" y="0"/>
                </a:lnTo>
                <a:lnTo>
                  <a:pt x="30192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73837"/>
            <a:ext cx="7650450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66923" y="234497"/>
            <a:ext cx="1117253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4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172704" y="2248534"/>
            <a:ext cx="7942592" cy="7942592"/>
            <a:chOff x="0" y="0"/>
            <a:chExt cx="10590122" cy="105901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90122" cy="10590122"/>
            </a:xfrm>
            <a:custGeom>
              <a:avLst/>
              <a:gdLst/>
              <a:ahLst/>
              <a:cxnLst/>
              <a:rect r="r" b="b" t="t" l="l"/>
              <a:pathLst>
                <a:path h="10590122" w="10590122">
                  <a:moveTo>
                    <a:pt x="0" y="0"/>
                  </a:moveTo>
                  <a:lnTo>
                    <a:pt x="10590122" y="0"/>
                  </a:lnTo>
                  <a:lnTo>
                    <a:pt x="10590122" y="10590122"/>
                  </a:lnTo>
                  <a:lnTo>
                    <a:pt x="0" y="10590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909128" y="7384295"/>
              <a:ext cx="1508045" cy="886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99"/>
                </a:lnSpc>
                <a:spcBef>
                  <a:spcPct val="0"/>
                </a:spcBef>
              </a:pPr>
              <a:r>
                <a:rPr lang="en-US" sz="385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85%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344794" y="1999175"/>
              <a:ext cx="1152580" cy="886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99"/>
                </a:lnSpc>
                <a:spcBef>
                  <a:spcPct val="0"/>
                </a:spcBef>
              </a:pPr>
              <a:r>
                <a:rPr lang="en-US" sz="385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15%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934210"/>
            <a:ext cx="15156382" cy="54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อัตราส่วนการรับเลี้ยงสุนัขที่ไม่สำเร็จ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34403" y="7851421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4" y="0"/>
                </a:lnTo>
                <a:lnTo>
                  <a:pt x="30192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03337" y="3079529"/>
            <a:ext cx="13681326" cy="6343243"/>
          </a:xfrm>
          <a:custGeom>
            <a:avLst/>
            <a:gdLst/>
            <a:ahLst/>
            <a:cxnLst/>
            <a:rect r="r" b="b" t="t" l="l"/>
            <a:pathLst>
              <a:path h="6343243" w="13681326">
                <a:moveTo>
                  <a:pt x="0" y="0"/>
                </a:moveTo>
                <a:lnTo>
                  <a:pt x="13681326" y="0"/>
                </a:lnTo>
                <a:lnTo>
                  <a:pt x="13681326" y="6343244"/>
                </a:lnTo>
                <a:lnTo>
                  <a:pt x="0" y="6343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74513" y="234497"/>
            <a:ext cx="1121122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73837"/>
            <a:ext cx="7650450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934210"/>
            <a:ext cx="15156382" cy="54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จัดอันดับสาเหตุการรับเลี้ยงสุนัขที่ไม่สำเร็จ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34403" y="7851421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4" y="0"/>
                </a:lnTo>
                <a:lnTo>
                  <a:pt x="30192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85882" y="3017717"/>
            <a:ext cx="10716235" cy="6659962"/>
          </a:xfrm>
          <a:custGeom>
            <a:avLst/>
            <a:gdLst/>
            <a:ahLst/>
            <a:cxnLst/>
            <a:rect r="r" b="b" t="t" l="l"/>
            <a:pathLst>
              <a:path h="6659962" w="10716235">
                <a:moveTo>
                  <a:pt x="0" y="0"/>
                </a:moveTo>
                <a:lnTo>
                  <a:pt x="10716236" y="0"/>
                </a:lnTo>
                <a:lnTo>
                  <a:pt x="10716236" y="6659962"/>
                </a:lnTo>
                <a:lnTo>
                  <a:pt x="0" y="6659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62458" y="234497"/>
            <a:ext cx="1126182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73837"/>
            <a:ext cx="7650450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934210"/>
            <a:ext cx="15156382" cy="54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สุนัขมากกว่า 50% ของทั้งหมดมักถูกคืนภายในสัปดาห์แรก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09814" y="2934137"/>
            <a:ext cx="11468373" cy="6769716"/>
          </a:xfrm>
          <a:custGeom>
            <a:avLst/>
            <a:gdLst/>
            <a:ahLst/>
            <a:cxnLst/>
            <a:rect r="r" b="b" t="t" l="l"/>
            <a:pathLst>
              <a:path h="6769716" w="11468373">
                <a:moveTo>
                  <a:pt x="0" y="0"/>
                </a:moveTo>
                <a:lnTo>
                  <a:pt x="11468372" y="0"/>
                </a:lnTo>
                <a:lnTo>
                  <a:pt x="11468372" y="6769716"/>
                </a:lnTo>
                <a:lnTo>
                  <a:pt x="0" y="6769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34403" y="7851421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4" y="0"/>
                </a:lnTo>
                <a:lnTo>
                  <a:pt x="30192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032677" y="3637010"/>
            <a:ext cx="1741060" cy="467532"/>
            <a:chOff x="0" y="0"/>
            <a:chExt cx="2321414" cy="623376"/>
          </a:xfrm>
        </p:grpSpPr>
        <p:sp>
          <p:nvSpPr>
            <p:cNvPr name="AutoShape 8" id="8"/>
            <p:cNvSpPr/>
            <p:nvPr/>
          </p:nvSpPr>
          <p:spPr>
            <a:xfrm flipH="true" flipV="true">
              <a:off x="7602" y="24236"/>
              <a:ext cx="840852" cy="26376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953801" y="-32914"/>
              <a:ext cx="1367613" cy="656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48"/>
                </a:lnSpc>
              </a:pPr>
              <a:r>
                <a:rPr lang="en-US" sz="2963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 Day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98707" y="4675968"/>
            <a:ext cx="1741060" cy="467532"/>
            <a:chOff x="0" y="0"/>
            <a:chExt cx="2321414" cy="623376"/>
          </a:xfrm>
        </p:grpSpPr>
        <p:sp>
          <p:nvSpPr>
            <p:cNvPr name="AutoShape 11" id="11"/>
            <p:cNvSpPr/>
            <p:nvPr/>
          </p:nvSpPr>
          <p:spPr>
            <a:xfrm flipH="true" flipV="true">
              <a:off x="7602" y="24236"/>
              <a:ext cx="840852" cy="26376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953801" y="-32914"/>
              <a:ext cx="1367613" cy="656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48"/>
                </a:lnSpc>
              </a:pPr>
              <a:r>
                <a:rPr lang="en-US" sz="2963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 Day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778978" y="234497"/>
            <a:ext cx="1093143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73837"/>
            <a:ext cx="7650450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934210"/>
            <a:ext cx="15156382" cy="54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การกระจายตัวของเวลาการกลับมาของผู้ใช้ตามประเภทปัญหา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34403" y="7851421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4" y="0"/>
                </a:lnTo>
                <a:lnTo>
                  <a:pt x="30192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53336" y="3220114"/>
            <a:ext cx="13981327" cy="6038186"/>
          </a:xfrm>
          <a:custGeom>
            <a:avLst/>
            <a:gdLst/>
            <a:ahLst/>
            <a:cxnLst/>
            <a:rect r="r" b="b" t="t" l="l"/>
            <a:pathLst>
              <a:path h="6038186" w="13981327">
                <a:moveTo>
                  <a:pt x="0" y="0"/>
                </a:moveTo>
                <a:lnTo>
                  <a:pt x="13981328" y="0"/>
                </a:lnTo>
                <a:lnTo>
                  <a:pt x="13981328" y="6038186"/>
                </a:lnTo>
                <a:lnTo>
                  <a:pt x="0" y="6038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63277" y="234497"/>
            <a:ext cx="1124545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934210"/>
            <a:ext cx="15156382" cy="54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เปรียบเทียบคะแนนพฤติกรรมกับการถูกนำมาคืนในแต่ละด้าน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73837"/>
            <a:ext cx="7650450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RISK BY “DOG”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34403" y="7851421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4" y="0"/>
                </a:lnTo>
                <a:lnTo>
                  <a:pt x="30192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13603" y="2836509"/>
            <a:ext cx="9860795" cy="6852735"/>
          </a:xfrm>
          <a:custGeom>
            <a:avLst/>
            <a:gdLst/>
            <a:ahLst/>
            <a:cxnLst/>
            <a:rect r="r" b="b" t="t" l="l"/>
            <a:pathLst>
              <a:path h="6852735" w="9860795">
                <a:moveTo>
                  <a:pt x="0" y="0"/>
                </a:moveTo>
                <a:lnTo>
                  <a:pt x="9860794" y="0"/>
                </a:lnTo>
                <a:lnTo>
                  <a:pt x="9860794" y="6852735"/>
                </a:lnTo>
                <a:lnTo>
                  <a:pt x="0" y="685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62607" y="234497"/>
            <a:ext cx="1125885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934210"/>
            <a:ext cx="15156382" cy="54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เมื่อปัญหาพฤติกรรมของสุนัขมีหลายด้านมักถูกนำมาคืนมากกว่า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73837"/>
            <a:ext cx="7650450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RISK BY “DOG”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34403" y="7851421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4" y="0"/>
                </a:lnTo>
                <a:lnTo>
                  <a:pt x="30192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47505" y="2959965"/>
            <a:ext cx="10192990" cy="6948856"/>
          </a:xfrm>
          <a:custGeom>
            <a:avLst/>
            <a:gdLst/>
            <a:ahLst/>
            <a:cxnLst/>
            <a:rect r="r" b="b" t="t" l="l"/>
            <a:pathLst>
              <a:path h="6948856" w="10192990">
                <a:moveTo>
                  <a:pt x="0" y="0"/>
                </a:moveTo>
                <a:lnTo>
                  <a:pt x="10192990" y="0"/>
                </a:lnTo>
                <a:lnTo>
                  <a:pt x="10192990" y="6948856"/>
                </a:lnTo>
                <a:lnTo>
                  <a:pt x="0" y="69488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73837"/>
            <a:ext cx="1076291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RISK BY “HOUSING , MATCHING”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24358" y="234497"/>
            <a:ext cx="1202382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934210"/>
            <a:ext cx="15156382" cy="54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ประเภทบ้านกับขนาดสุนัขมีผลต่อการรับเลี้ยง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34403" y="7851421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4" y="0"/>
                </a:lnTo>
                <a:lnTo>
                  <a:pt x="30192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61721" y="2966279"/>
            <a:ext cx="9164559" cy="6690513"/>
          </a:xfrm>
          <a:custGeom>
            <a:avLst/>
            <a:gdLst/>
            <a:ahLst/>
            <a:cxnLst/>
            <a:rect r="r" b="b" t="t" l="l"/>
            <a:pathLst>
              <a:path h="6690513" w="9164559">
                <a:moveTo>
                  <a:pt x="0" y="0"/>
                </a:moveTo>
                <a:lnTo>
                  <a:pt x="9164558" y="0"/>
                </a:lnTo>
                <a:lnTo>
                  <a:pt x="9164558" y="6690513"/>
                </a:lnTo>
                <a:lnTo>
                  <a:pt x="0" y="669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78829" y="234497"/>
            <a:ext cx="1093440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934210"/>
            <a:ext cx="15156382" cy="54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เมื่อสุนัขต้องอยู่ตัวคนเดียวนานขึ้นแนวโน้มการถูกนำมาคืนก็มากขึ้น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73837"/>
            <a:ext cx="1076291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RISK BY “HOUSING , MATCHING”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34403" y="7851421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4" y="0"/>
                </a:lnTo>
                <a:lnTo>
                  <a:pt x="30192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24361" y="3159239"/>
            <a:ext cx="10439277" cy="6613763"/>
          </a:xfrm>
          <a:custGeom>
            <a:avLst/>
            <a:gdLst/>
            <a:ahLst/>
            <a:cxnLst/>
            <a:rect r="r" b="b" t="t" l="l"/>
            <a:pathLst>
              <a:path h="6613763" w="10439277">
                <a:moveTo>
                  <a:pt x="0" y="0"/>
                </a:moveTo>
                <a:lnTo>
                  <a:pt x="10439278" y="0"/>
                </a:lnTo>
                <a:lnTo>
                  <a:pt x="10439278" y="6613763"/>
                </a:lnTo>
                <a:lnTo>
                  <a:pt x="0" y="66137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29493" y="234497"/>
            <a:ext cx="1192113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12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934210"/>
            <a:ext cx="15156382" cy="54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การที่สุนัขอยู่ตัวคนเดียวนานขึ้นก่อให้เกิดความวิตกกังวล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73837"/>
            <a:ext cx="1076291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RISK BY “HOUSING , MATCHING”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34403" y="7851421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4" y="0"/>
                </a:lnTo>
                <a:lnTo>
                  <a:pt x="30192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69381" y="2917278"/>
            <a:ext cx="9349238" cy="6728129"/>
          </a:xfrm>
          <a:custGeom>
            <a:avLst/>
            <a:gdLst/>
            <a:ahLst/>
            <a:cxnLst/>
            <a:rect r="r" b="b" t="t" l="l"/>
            <a:pathLst>
              <a:path h="6728129" w="9349238">
                <a:moveTo>
                  <a:pt x="0" y="0"/>
                </a:moveTo>
                <a:lnTo>
                  <a:pt x="9349238" y="0"/>
                </a:lnTo>
                <a:lnTo>
                  <a:pt x="9349238" y="6728128"/>
                </a:lnTo>
                <a:lnTo>
                  <a:pt x="0" y="672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27856" y="234497"/>
            <a:ext cx="1195388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934210"/>
            <a:ext cx="15156382" cy="54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ความเข้ากันไม่ได้ในความ ACTIVE ทำให้มีอัตราการถูกคืนที่สูงขึ้น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73837"/>
            <a:ext cx="1076291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RISK BY “HOUSING , MATCHING”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34403" y="7851421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4" y="0"/>
                </a:lnTo>
                <a:lnTo>
                  <a:pt x="30192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40144" y="2909757"/>
            <a:ext cx="11407712" cy="6811306"/>
          </a:xfrm>
          <a:custGeom>
            <a:avLst/>
            <a:gdLst/>
            <a:ahLst/>
            <a:cxnLst/>
            <a:rect r="r" b="b" t="t" l="l"/>
            <a:pathLst>
              <a:path h="6811306" w="11407712">
                <a:moveTo>
                  <a:pt x="0" y="0"/>
                </a:moveTo>
                <a:lnTo>
                  <a:pt x="11407712" y="0"/>
                </a:lnTo>
                <a:lnTo>
                  <a:pt x="11407712" y="6811306"/>
                </a:lnTo>
                <a:lnTo>
                  <a:pt x="0" y="6811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73837"/>
            <a:ext cx="1011996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RISK BY “ADOPTER”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25846" y="234497"/>
            <a:ext cx="1199406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934210"/>
            <a:ext cx="15156382" cy="54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ไม่ใช่ประสบการณ์เป็นส่วนใหญ่แต่เป็นความคาดหวังที่มากเกินไป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34403" y="7851421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4" y="0"/>
                </a:lnTo>
                <a:lnTo>
                  <a:pt x="30192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9630" y="3198848"/>
            <a:ext cx="9026562" cy="6162535"/>
          </a:xfrm>
          <a:custGeom>
            <a:avLst/>
            <a:gdLst/>
            <a:ahLst/>
            <a:cxnLst/>
            <a:rect r="r" b="b" t="t" l="l"/>
            <a:pathLst>
              <a:path h="6162535" w="9026562">
                <a:moveTo>
                  <a:pt x="0" y="0"/>
                </a:moveTo>
                <a:lnTo>
                  <a:pt x="9026562" y="0"/>
                </a:lnTo>
                <a:lnTo>
                  <a:pt x="9026562" y="6162535"/>
                </a:lnTo>
                <a:lnTo>
                  <a:pt x="0" y="6162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28441" y="6280115"/>
            <a:ext cx="5658362" cy="3863027"/>
          </a:xfrm>
          <a:custGeom>
            <a:avLst/>
            <a:gdLst/>
            <a:ahLst/>
            <a:cxnLst/>
            <a:rect r="r" b="b" t="t" l="l"/>
            <a:pathLst>
              <a:path h="3863027" w="5658362">
                <a:moveTo>
                  <a:pt x="0" y="0"/>
                </a:moveTo>
                <a:lnTo>
                  <a:pt x="5658362" y="0"/>
                </a:lnTo>
                <a:lnTo>
                  <a:pt x="5658362" y="3863027"/>
                </a:lnTo>
                <a:lnTo>
                  <a:pt x="0" y="38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28441" y="2146332"/>
            <a:ext cx="5658362" cy="3863027"/>
          </a:xfrm>
          <a:custGeom>
            <a:avLst/>
            <a:gdLst/>
            <a:ahLst/>
            <a:cxnLst/>
            <a:rect r="r" b="b" t="t" l="l"/>
            <a:pathLst>
              <a:path h="3863027" w="5658362">
                <a:moveTo>
                  <a:pt x="0" y="0"/>
                </a:moveTo>
                <a:lnTo>
                  <a:pt x="5658362" y="0"/>
                </a:lnTo>
                <a:lnTo>
                  <a:pt x="5658362" y="3863027"/>
                </a:lnTo>
                <a:lnTo>
                  <a:pt x="0" y="38630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723912" y="234497"/>
            <a:ext cx="1203275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15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0420" y="1934210"/>
            <a:ext cx="15156382" cy="54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การฝึกสุนัขช่วยลดการถูกนำกลับมาคืนในส่วนของ RISK BY ‘DOG’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73837"/>
            <a:ext cx="1011996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PREPARATION FOR “ADOPTER”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34403" y="7851421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4" y="0"/>
                </a:lnTo>
                <a:lnTo>
                  <a:pt x="30192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01382" y="2908139"/>
            <a:ext cx="12685235" cy="7000682"/>
          </a:xfrm>
          <a:custGeom>
            <a:avLst/>
            <a:gdLst/>
            <a:ahLst/>
            <a:cxnLst/>
            <a:rect r="r" b="b" t="t" l="l"/>
            <a:pathLst>
              <a:path h="7000682" w="12685235">
                <a:moveTo>
                  <a:pt x="0" y="0"/>
                </a:moveTo>
                <a:lnTo>
                  <a:pt x="12685236" y="0"/>
                </a:lnTo>
                <a:lnTo>
                  <a:pt x="12685236" y="7000682"/>
                </a:lnTo>
                <a:lnTo>
                  <a:pt x="0" y="7000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21382" y="234497"/>
            <a:ext cx="1208336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934210"/>
            <a:ext cx="15156382" cy="54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การเตรียมความพร้อมของผู้รับเลี้ยงมีผลกับอัตราการนำสุนัขมาคืน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73837"/>
            <a:ext cx="1011996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PREPARATION FOR “ADOPTER”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6776"/>
            <a:ext cx="16230600" cy="47909"/>
            <a:chOff x="0" y="0"/>
            <a:chExt cx="4274726" cy="12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2618"/>
            </a:xfrm>
            <a:custGeom>
              <a:avLst/>
              <a:gdLst/>
              <a:ahLst/>
              <a:cxnLst/>
              <a:rect r="r" b="b" t="t" l="l"/>
              <a:pathLst>
                <a:path h="1261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2618"/>
                  </a:lnTo>
                  <a:lnTo>
                    <a:pt x="0" y="12618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34403" y="7851421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4" y="0"/>
                </a:lnTo>
                <a:lnTo>
                  <a:pt x="30192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29690" y="2794819"/>
            <a:ext cx="10295673" cy="6847361"/>
          </a:xfrm>
          <a:custGeom>
            <a:avLst/>
            <a:gdLst/>
            <a:ahLst/>
            <a:cxnLst/>
            <a:rect r="r" b="b" t="t" l="l"/>
            <a:pathLst>
              <a:path h="6847361" w="10295673">
                <a:moveTo>
                  <a:pt x="0" y="0"/>
                </a:moveTo>
                <a:lnTo>
                  <a:pt x="10295673" y="0"/>
                </a:lnTo>
                <a:lnTo>
                  <a:pt x="10295673" y="6847361"/>
                </a:lnTo>
                <a:lnTo>
                  <a:pt x="0" y="684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37902" y="234497"/>
            <a:ext cx="1175296" cy="45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page 17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934210"/>
            <a:ext cx="15156382" cy="54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การพาสุนัขที่บ้านมาเจอกันก่อนกับการถูกนำกลับมาคืนมีผลแค่สุนัขที่มี REACTIVITY ไม่สูง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73837"/>
            <a:ext cx="1011996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PREPARATION FOR “ADOPTER”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53752" y="3886810"/>
            <a:ext cx="9180495" cy="217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7"/>
              </a:lnSpc>
            </a:pPr>
            <a:r>
              <a:rPr lang="en-US" sz="120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DAHRRZbE7Hg</dc:identifier>
  <dcterms:modified xsi:type="dcterms:W3CDTF">2011-08-01T06:04:30Z</dcterms:modified>
  <cp:revision>1</cp:revision>
  <dc:title>ความสำเร็จในการรับเลี้ยงสุนัข</dc:title>
</cp:coreProperties>
</file>