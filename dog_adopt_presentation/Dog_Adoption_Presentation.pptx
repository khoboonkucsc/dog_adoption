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Prompt"/>
              </a:defRPr>
            </a:pPr>
            <a:r>
              <a:t>📊 การวิเคราะห์ข้อมูลเชิงลึก 42,000 เคส</a:t>
            </a:r>
          </a:p>
          <a:p>
            <a:br/>
            <a:pPr>
              <a:defRPr sz="3200" b="1">
                <a:solidFill>
                  <a:srgbClr val="F8FAFC"/>
                </a:solidFill>
                <a:latin typeface="Prompt"/>
              </a:defRPr>
            </a:pPr>
            <a:r>
              <a:t>ถอดรหัสเบื้องหลัง</a:t>
            </a:r>
            <a:br/>
            <a:r>
              <a:t>การรับเลี้ยงสุนัข</a:t>
            </a:r>
            <a:br/>
            <a:r>
              <a:t>ทำไม 1 ใน 7 ตัวถึงถูกส่งคืน?</a:t>
            </a:r>
          </a:p>
          <a:p>
            <a:br/>
            <a:pPr>
              <a:defRPr sz="1300">
                <a:solidFill>
                  <a:srgbClr val="94A3B8"/>
                </a:solidFill>
                <a:latin typeface="Prompt"/>
              </a:defRPr>
            </a:pPr>
            <a:r>
              <a:t>การศึกษาปัจจัยความสำเร็จและสาเหตุความล้มเหลวของการรับเลี้ยงสุนัข เพื่อค้นหาแนวทางยกระดับการอยู่ร่วมกันอย่างยั่งยืน โดยใช้วิทยาศาสตร์ข้อมูล (Data Science)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737360" cy="91440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  <a:latin typeface="Outfit"/>
              </a:defRPr>
            </a:pPr>
            <a:r>
              <a:t>42,000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เคสในระบบ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5303520"/>
            <a:ext cx="1737360" cy="91440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  <a:latin typeface="Outfit"/>
              </a:defRPr>
            </a:pPr>
            <a:r>
              <a:t>85.0%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อัตราสำเร็จถาวร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5303520"/>
            <a:ext cx="1737360" cy="91440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F4444"/>
                </a:solidFill>
                <a:latin typeface="Outfit"/>
              </a:defRPr>
            </a:pPr>
            <a:r>
              <a:t>15.0%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อัตราส่งคืน</a:t>
            </a:r>
          </a:p>
        </p:txBody>
      </p:sp>
      <p:pic>
        <p:nvPicPr>
          <p:cNvPr id="7" name="Picture 6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572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EXECUTIVE SUMMARY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ภาพรวม 42,000 เคส: สำเร็จ 85% แต่มีช่องว่างความสูญเสีย 15%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การรับเลี้ยงสำเร็จเป็นส่วนใหญ่ ทว่า 6,297 ตัวต้องเผชิญกับความบอบช้ำซ้ำสอง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02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286000" cy="137160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B981"/>
                </a:solidFill>
                <a:latin typeface="Outfit"/>
              </a:defRPr>
            </a:pPr>
            <a:r>
              <a:t>85.0%</a:t>
            </a:r>
          </a:p>
          <a:p>
            <a:pPr>
              <a:defRPr sz="1100" b="1">
                <a:solidFill>
                  <a:srgbClr val="F8FAFC"/>
                </a:solidFill>
                <a:latin typeface="Prompt"/>
              </a:defRPr>
            </a:pPr>
            <a:r>
              <a:t>รับเลี้ยงสำเร็จ (Stayed Home)</a:t>
            </a:r>
          </a:p>
          <a:p>
            <a:pPr>
              <a:defRPr sz="900">
                <a:solidFill>
                  <a:srgbClr val="94A3B8"/>
                </a:solidFill>
                <a:latin typeface="Prompt"/>
              </a:defRPr>
            </a:pPr>
            <a:r>
              <a:t>35,703 ครอบครัวได้สมาชิกถาวร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2286000" cy="137160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F4444"/>
                </a:solidFill>
                <a:latin typeface="Outfit"/>
              </a:defRPr>
            </a:pPr>
            <a:r>
              <a:t>15.0%</a:t>
            </a:r>
          </a:p>
          <a:p>
            <a:pPr>
              <a:defRPr sz="1100" b="1">
                <a:solidFill>
                  <a:srgbClr val="F8FAFC"/>
                </a:solidFill>
                <a:latin typeface="Prompt"/>
              </a:defRPr>
            </a:pPr>
            <a:r>
              <a:t>ถูกส่งคืน (Returned to Shelter)</a:t>
            </a:r>
          </a:p>
          <a:p>
            <a:pPr>
              <a:defRPr sz="900">
                <a:solidFill>
                  <a:srgbClr val="94A3B8"/>
                </a:solidFill>
                <a:latin typeface="Prompt"/>
              </a:defRPr>
            </a:pPr>
            <a:r>
              <a:t>6,297 ตัวถูกส่งกลับสถานสงเคราะห์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2286000" cy="137160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6B6D4"/>
                </a:solidFill>
                <a:latin typeface="Outfit"/>
              </a:defRPr>
            </a:pPr>
            <a:r>
              <a:t>1 ใน 7</a:t>
            </a:r>
          </a:p>
          <a:p>
            <a:pPr>
              <a:defRPr sz="1100" b="1">
                <a:solidFill>
                  <a:srgbClr val="F8FAFC"/>
                </a:solidFill>
                <a:latin typeface="Prompt"/>
              </a:defRPr>
            </a:pPr>
            <a:r>
              <a:t>อัตราส่วนความล้มเหลว</a:t>
            </a:r>
          </a:p>
          <a:p>
            <a:pPr>
              <a:defRPr sz="900">
                <a:solidFill>
                  <a:srgbClr val="94A3B8"/>
                </a:solidFill>
                <a:latin typeface="Prompt"/>
              </a:defRPr>
            </a:pPr>
            <a:r>
              <a:t>สถิติเทียบเคียงระดับสากล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200400"/>
            <a:ext cx="2286000" cy="137160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9E0B"/>
                </a:solidFill>
                <a:latin typeface="Outfit"/>
              </a:defRPr>
            </a:pPr>
            <a:r>
              <a:t>7 วัน</a:t>
            </a:r>
          </a:p>
          <a:p>
            <a:pPr>
              <a:defRPr sz="1100" b="1">
                <a:solidFill>
                  <a:srgbClr val="F8FAFC"/>
                </a:solidFill>
                <a:latin typeface="Prompt"/>
              </a:defRPr>
            </a:pPr>
            <a:r>
              <a:t>ค่ามัธยฐานการส่งคืน (Median)</a:t>
            </a:r>
          </a:p>
          <a:p>
            <a:pPr>
              <a:defRPr sz="900">
                <a:solidFill>
                  <a:srgbClr val="94A3B8"/>
                </a:solidFill>
                <a:latin typeface="Prompt"/>
              </a:defRPr>
            </a:pPr>
            <a:r>
              <a:t>ครึ่งหนึ่งเกิดขึ้นใน 1 สัปดาห์แรก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4754880" cy="1280160"/>
          </a:xfrm>
          <a:prstGeom prst="roundRect">
            <a:avLst/>
          </a:prstGeom>
          <a:solidFill>
            <a:srgbClr val="1A253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6366F1"/>
                </a:solidFill>
                <a:latin typeface="Prompt"/>
              </a:defRPr>
            </a:pPr>
            <a:r>
              <a:t>💡 ประเด็นสำคัญเชิงยุทธศาสตร์:</a:t>
            </a:r>
          </a:p>
          <a:p>
            <a:pPr>
              <a:defRPr sz="1100">
                <a:solidFill>
                  <a:srgbClr val="F8FAFC"/>
                </a:solidFill>
                <a:latin typeface="Prompt"/>
              </a:defRPr>
            </a:pPr>
            <a:r>
              <a:t>สุนัขที่ถูกส่งคืน 1 ครั้งมีความเสี่ยงสูงขึ้นที่จะมีปัญหาพฤติกรรมสะสม และสร้างภาระหมุนเวียนงบประมาณ การทำความเข้าใจสาเหตุของ 15% นี้จึงเป็นภารกิจหลักของการวิเคราะห์</a:t>
            </a:r>
          </a:p>
        </p:txBody>
      </p:sp>
      <p:pic>
        <p:nvPicPr>
          <p:cNvPr id="10" name="Picture 9" descr="01_overall_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577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ROOT CAUSE BREAKDOWN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เจาะลึก 9 สาเหตุแห่งความล้มเหลว: พฤติกรรมครองสัดส่วน &gt;71%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คนไม่ได้ส่งคืนเพราะแพ้ขนหรือหมาป่วย แต่เป็นเรื่องของความสัมพันธ์และการปรับตัว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F4444"/>
                </a:solidFill>
                <a:latin typeface="Prompt"/>
              </a:defRPr>
            </a:pPr>
            <a:r>
              <a:t>🔥 4 สาเหตุหลักรวมกันคิดเป็น 70.9% (4,464 ตัว)</a:t>
            </a:r>
          </a:p>
          <a:p>
            <a:br/>
            <a:pPr>
              <a:defRPr b="1" sz="1200">
                <a:solidFill>
                  <a:srgbClr val="F8FAFC"/>
                </a:solidFill>
                <a:latin typeface="Prompt"/>
              </a:defRPr>
            </a:pPr>
            <a:r>
              <a:t>• 1. เข้ากับสัตว์เลี้ยงเดิมไม่ได้ (22.0% - 1,387 ตัว)</a:t>
            </a:r>
          </a:p>
          <a:p>
            <a:pPr>
              <a:defRPr sz="1100">
                <a:solidFill>
                  <a:srgbClr val="94A3B8"/>
                </a:solidFill>
                <a:latin typeface="Prompt"/>
              </a:defRPr>
            </a:pPr>
            <a:r>
              <a:t>   สุนัขเจ้าถิ่นปฏิเสธตัวใหม่ ขาดการทำ Meet &amp; Greet ก่อนรับ</a:t>
            </a:r>
          </a:p>
          <a:p>
            <a:br/>
            <a:pPr>
              <a:defRPr b="1" sz="1200">
                <a:solidFill>
                  <a:srgbClr val="F8FAFC"/>
                </a:solidFill>
                <a:latin typeface="Prompt"/>
              </a:defRPr>
            </a:pPr>
            <a:r>
              <a:t>• 2. พฤติกรรมก้าวร้าว/ดุร้าย (21.5% - 1,352 ตัว)</a:t>
            </a:r>
          </a:p>
          <a:p>
            <a:pPr>
              <a:defRPr sz="1100">
                <a:solidFill>
                  <a:srgbClr val="94A3B8"/>
                </a:solidFill>
                <a:latin typeface="Prompt"/>
              </a:defRPr>
            </a:pPr>
            <a:r>
              <a:t>   กัดคน/หมาอื่น ไม่ได้รับการประเมินและฝึกอบรมเบื้องต้น</a:t>
            </a:r>
          </a:p>
          <a:p>
            <a:br/>
            <a:pPr>
              <a:defRPr b="1" sz="1200">
                <a:solidFill>
                  <a:srgbClr val="F8FAFC"/>
                </a:solidFill>
                <a:latin typeface="Prompt"/>
              </a:defRPr>
            </a:pPr>
            <a:r>
              <a:t>• 3. วิตกกังวล/ทำลายข้าวของ (15.5% - 975 ตัว)</a:t>
            </a:r>
          </a:p>
          <a:p>
            <a:pPr>
              <a:defRPr sz="1100">
                <a:solidFill>
                  <a:srgbClr val="94A3B8"/>
                </a:solidFill>
                <a:latin typeface="Prompt"/>
              </a:defRPr>
            </a:pPr>
            <a:r>
              <a:t>   เห่าหอน กัดแทะเมื่อถูกทิ้งให้อยู่ลำพังวันแรกๆ</a:t>
            </a:r>
          </a:p>
          <a:p>
            <a:br/>
            <a:pPr>
              <a:defRPr b="1" sz="1200">
                <a:solidFill>
                  <a:srgbClr val="F8FAFC"/>
                </a:solidFill>
                <a:latin typeface="Prompt"/>
              </a:defRPr>
            </a:pPr>
            <a:r>
              <a:t>• 4. ไม่เป็นไปตามคาดหวัง (11.9% - 750 ตัว)</a:t>
            </a:r>
          </a:p>
          <a:p>
            <a:pPr>
              <a:defRPr sz="1100">
                <a:solidFill>
                  <a:srgbClr val="94A3B8"/>
                </a:solidFill>
                <a:latin typeface="Prompt"/>
              </a:defRPr>
            </a:pPr>
            <a:r>
              <a:t>   คาดหวังว่าสุนัขจะสมบูรณ์แบบตั้งแต่วันแรก</a:t>
            </a:r>
          </a:p>
          <a:p>
            <a:br/>
            <a:pPr>
              <a:defRPr sz="1100" b="1">
                <a:solidFill>
                  <a:srgbClr val="F59E0B"/>
                </a:solidFill>
                <a:latin typeface="Prompt"/>
              </a:defRPr>
            </a:pPr>
            <a:r>
              <a:t>⚠️ ข้อสังเกต: อาการแพ้ขน (3.8%) และปัญหาสุขภาพ (5.0%) มีสัดส่วนน้อยมากอย่างมีนัยสำคัญ</a:t>
            </a:r>
          </a:p>
        </p:txBody>
      </p:sp>
      <p:pic>
        <p:nvPicPr>
          <p:cNvPr id="6" name="Picture 5" descr="02_return_r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54480"/>
            <a:ext cx="5669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CRITICAL WINDOW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สัปดาห์ชี้ชะตา: ค่ามัธยฐานการส่งคืนอยู่ที่ '7 วัน'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ถ้าการรับเลี้ยงจะล้มเหลว มันมักจะล้มเหลวตั้งแต่อาทิตย์แรก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04 / 13</a:t>
            </a:r>
          </a:p>
        </p:txBody>
      </p:sp>
      <p:pic>
        <p:nvPicPr>
          <p:cNvPr id="5" name="Picture 4" descr="10_days_to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474720"/>
          </a:xfrm>
          <a:prstGeom prst="rect">
            <a:avLst/>
          </a:prstGeom>
        </p:spPr>
      </p:pic>
      <p:pic>
        <p:nvPicPr>
          <p:cNvPr id="6" name="Picture 5" descr="11_reason_vs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303520"/>
            <a:ext cx="5120640" cy="118872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EF4444"/>
                </a:solidFill>
                <a:latin typeface="Prompt"/>
              </a:defRPr>
            </a:pPr>
            <a:r>
              <a:t>⚡ วิกฤตระยะต้น (วันที่ 1–14): ปัญหาปะทุทันที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ความก้าวร้าว, การกัดกันกับสัตว์เลี้ยงเดิม, อาการเห่าหอนทำลายของ และปัญหาสุขภาพเฉียบพลัน ปะทุขึ้นในสัปดาห์แรก จึงต้องมีระบบติดตาม 14 วันแรกอย่างใกล้ชิด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303520"/>
            <a:ext cx="5212080" cy="118872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59E0B"/>
                </a:solidFill>
                <a:latin typeface="Prompt"/>
              </a:defRPr>
            </a:pPr>
            <a:r>
              <a:t>⏳ วิกฤตระยะสะสม (เดือนที่ 1–3): ปัญหาภายนอก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ปัญหากฎระเบียบนิติบุคคล/หอพัก, ค่าใช้จ่ายสะสม, และความเหนื่อยล้าจากเวลาเลี้ยงดู จะค่อยๆ เพิ่มขึ้นในเดือนที่ 2 และ 3 ต้องมีคำปรึกษาทางไกลต่อเนื่อง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RISK MULTIPLIER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พฤติกรรมเสี่ยงสะสม (Behaviour Burden): กฎการทวีคูณความเสี่ยง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จาก 9.2% พุ่งแตะ 40.2% เมื่อมีปัญหาพฤติกรรมครบ 3 ด้าน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  <a:latin typeface="Prompt"/>
              </a:defRPr>
            </a:pPr>
            <a:r>
              <a:t>📈 อัตราการส่งคืนตามระดับภาระพฤติกรรม:</a:t>
            </a:r>
          </a:p>
          <a:p>
            <a:br/>
            <a:pPr>
              <a:defRPr b="1" sz="1200">
                <a:solidFill>
                  <a:srgbClr val="10B981"/>
                </a:solidFill>
                <a:latin typeface="Prompt"/>
              </a:defRPr>
            </a:pPr>
            <a:r>
              <a:t>• 0 พฤติกรรมเสี่ยง: อัตราส่งคืน 9.2%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   สำเร็จสูงถึง 90.8% เมื่อสุนัขไม่มีนิสัยดุ ขี้กังวล หรือขับถ่ายผิดที่</a:t>
            </a:r>
          </a:p>
          <a:p>
            <a:br/>
            <a:pPr>
              <a:defRPr b="1" sz="1200">
                <a:solidFill>
                  <a:srgbClr val="F59E0B"/>
                </a:solidFill>
                <a:latin typeface="Prompt"/>
              </a:defRPr>
            </a:pPr>
            <a:r>
              <a:t>• 1 พฤติกรรมเสี่ยง: อัตราส่งคืน 16.5%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   ความเสี่ยงเริ่มสูงกว่าเกณฑ์เฉลี่ย</a:t>
            </a:r>
          </a:p>
          <a:p>
            <a:br/>
            <a:pPr>
              <a:defRPr b="1" sz="1200">
                <a:solidFill>
                  <a:srgbClr val="EF4444"/>
                </a:solidFill>
                <a:latin typeface="Prompt"/>
              </a:defRPr>
            </a:pPr>
            <a:r>
              <a:t>• 2 พฤติกรรมเสี่ยง: อัตราส่งคืน 27.0%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   มากกว่า 1 ใน 4 ตัวจะต้องถูกส่งคืน</a:t>
            </a:r>
          </a:p>
          <a:p>
            <a:br/>
            <a:pPr>
              <a:defRPr b="1" sz="1200">
                <a:solidFill>
                  <a:srgbClr val="EF4444"/>
                </a:solidFill>
                <a:latin typeface="Prompt"/>
              </a:defRPr>
            </a:pPr>
            <a:r>
              <a:t>• 3 พฤติกรรมเสี่ยง: อัตราส่งคืน 40.2%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   เกือบครึ่งหนึ่งล้มเหลว (4 ใน 10 ตัว)</a:t>
            </a:r>
          </a:p>
        </p:txBody>
      </p:sp>
      <p:pic>
        <p:nvPicPr>
          <p:cNvPr id="6" name="Picture 5" descr="14_behaviour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PROTECTIVE FACTOR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การฝึกสุนัขคือวัคซีนป้องกันการส่งคืน (Training Buffer)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การฝึกช่วยลดอัตราการส่งคืนในกลุ่มดุร้ายลงได้ถึง 17.5%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  <a:latin typeface="Prompt"/>
              </a:defRPr>
            </a:pPr>
            <a:r>
              <a:t>🛡️ พลังของการฝึกอบรมพฤติกรรม (Training):</a:t>
            </a:r>
          </a:p>
          <a:p>
            <a:br/>
            <a:pPr>
              <a:defRPr sz="1200">
                <a:solidFill>
                  <a:srgbClr val="F8FAFC"/>
                </a:solidFill>
                <a:latin typeface="Prompt"/>
              </a:defRPr>
            </a:pPr>
            <a:r>
              <a:t>• กลุ่มดุร้ายสูง (High Aggression):</a:t>
            </a:r>
            <a:br/>
            <a:r>
              <a:t>   - ไม่ฝึกเลย: ถูกส่งคืน 47.1% (แทบโยนเหรียญหัวก้อย)</a:t>
            </a:r>
            <a:br/>
            <a:r>
              <a:t>   - ฝึกขั้นสูง: ส่งคืนลดเหลือ 29.6% (ลดลง -17.5 pp)</a:t>
            </a:r>
          </a:p>
          <a:p>
            <a:br/>
            <a:pPr>
              <a:defRPr sz="1200">
                <a:solidFill>
                  <a:srgbClr val="F8FAFC"/>
                </a:solidFill>
                <a:latin typeface="Prompt"/>
              </a:defRPr>
            </a:pPr>
            <a:r>
              <a:t>• กลุ่มสุนัขนิสัยดี (Low Aggression):</a:t>
            </a:r>
            <a:br/>
            <a:r>
              <a:t>   - ไม่ฝึก: ส่งคืน 12.8%</a:t>
            </a:r>
            <a:br/>
            <a:r>
              <a:t>   - ฝึกขั้นสูง: ส่งคืนเหลือเพียง 6.7% เท่านั้น</a:t>
            </a:r>
          </a:p>
          <a:p>
            <a:br/>
            <a:pPr>
              <a:defRPr sz="1100" b="1">
                <a:solidFill>
                  <a:srgbClr val="06B6D4"/>
                </a:solidFill>
                <a:latin typeface="Prompt"/>
              </a:defRPr>
            </a:pPr>
            <a:r>
              <a:t>💡 ข้อสรุปเชิงนโยบาย: การลงทุนฝึกพฤติกรรมพื้นฐานก่อนส่งมอบ คือการลงทุนที่คุ้มค่าที่สุดของสถานสงเคราะห์</a:t>
            </a:r>
          </a:p>
        </p:txBody>
      </p:sp>
      <p:pic>
        <p:nvPicPr>
          <p:cNvPr id="6" name="Picture 5" descr="15_training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LIFESTYLE MATCHING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ความไม่ลงรอยของวิถีชีวิตและพื้นที่ (Lifestyle Mismatch)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การเลือกสุนัขไม่ตรงกับสภาพความเป็นอยู่จริงของบ้าน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07 / 13</a:t>
            </a:r>
          </a:p>
        </p:txBody>
      </p:sp>
      <p:pic>
        <p:nvPicPr>
          <p:cNvPr id="5" name="Picture 4" descr="08_energy_mis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474720"/>
          </a:xfrm>
          <a:prstGeom prst="rect">
            <a:avLst/>
          </a:prstGeom>
        </p:spPr>
      </p:pic>
      <p:pic>
        <p:nvPicPr>
          <p:cNvPr id="6" name="Picture 5" descr="07_hours_al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303520"/>
            <a:ext cx="5120640" cy="118872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59E0B"/>
                </a:solidFill>
                <a:latin typeface="Prompt"/>
              </a:defRPr>
            </a:pPr>
            <a:r>
              <a:t>⚡ Energy Mismatch (11.5% -&gt; 21.2%)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เมื่อสุนัขพลังงานสูงไปอยู่กับเจ้าของที่ไม่ค่อยมีเวลาออกกำลังกาย อัตราการส่งคืนจะเพิ่มขึ้นเกือบ 2 เท่า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303520"/>
            <a:ext cx="5212080" cy="118872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EF4444"/>
                </a:solidFill>
                <a:latin typeface="Prompt"/>
              </a:defRPr>
            </a:pPr>
            <a:r>
              <a:t>⏰ ปล่อยสุนัขอยู่ลำพัง &gt;8 ชม./วัน (17.5%)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การปล่อยสุนัขไว้ตัวเดียวนานเกินไป กระตุ้นอาการเห่าหอนทำลายของ และทำให้ผู้เลี้ยงยอมแพ้ในที่สุด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MINDSET &amp; PERCEPTION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มายาคติเรื่องประสบการณ์: ความคาดหวังสำคัญกว่ามือเก่าหรือมือใหม่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มือใหม่ที่มีความคาดหวังสมจริง สำเร็จมากกว่าคนมีประสบการณ์แต่คาดหวังผิด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  <a:latin typeface="Prompt"/>
              </a:defRPr>
            </a:pPr>
            <a:r>
              <a:t>🌟 สถิติหักล้างความเชื่อเดิม:</a:t>
            </a:r>
          </a:p>
          <a:p>
            <a:br/>
            <a:pPr>
              <a:defRPr b="1" sz="1200">
                <a:solidFill>
                  <a:srgbClr val="10B981"/>
                </a:solidFill>
                <a:latin typeface="Prompt"/>
              </a:defRPr>
            </a:pPr>
            <a:r>
              <a:t>• ผู้รับเลี้ยงมือใหม่ + คาดหวังสมจริง:</a:t>
            </a:r>
            <a:br/>
            <a:r>
              <a:t>   👉 อัตราส่งคืนต่ำมากเพียง 9.4% (สำเร็จ 90.6%)</a:t>
            </a:r>
          </a:p>
          <a:p>
            <a:br/>
            <a:pPr>
              <a:defRPr b="1" sz="1200">
                <a:solidFill>
                  <a:srgbClr val="EF4444"/>
                </a:solidFill>
                <a:latin typeface="Prompt"/>
              </a:defRPr>
            </a:pPr>
            <a:r>
              <a:t>• ผู้เคยเลี้ยงมาแล้ว + คาดหวังว่าต้องเพอร์เฟกต์:</a:t>
            </a:r>
            <a:br/>
            <a:r>
              <a:t>   👉 อัตราส่งคืนสูงถึง 16.6%!</a:t>
            </a:r>
          </a:p>
          <a:p>
            <a:br/>
            <a:pPr>
              <a:defRPr sz="1100">
                <a:solidFill>
                  <a:srgbClr val="94A3B8"/>
                </a:solidFill>
                <a:latin typeface="Prompt"/>
              </a:defRPr>
            </a:pPr>
            <a:r>
              <a:t>💡 บทเรียน: ประวัติการเลี้ยงดูในอดีตไม่ใช่ตัวการันตี การให้ความรู้และปรับทัศนคติก่อนรับเลี้ยงมีความสำคัญมากกว่า</a:t>
            </a:r>
          </a:p>
        </p:txBody>
      </p:sp>
      <p:pic>
        <p:nvPicPr>
          <p:cNvPr id="6" name="Picture 5" descr="16_expectation_med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ADOPTER PREPARATION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พลังของการเตรียมตัว: เยี่ยมชม 4 ครั้ง ลดอัตราส่งคืนเหลือ 10.9%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ความคุ้นเคยก่อนส่งมอบช่วยเปลี่ยนความเสี่ยงให้เป็นความผูกพัน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  <a:latin typeface="Prompt"/>
              </a:defRPr>
            </a:pPr>
            <a:r>
              <a:t>🐾 สถิติจำนวนครั้งที่มาเยี่ยมชมก่อนรับเลี้ยง:</a:t>
            </a:r>
          </a:p>
          <a:p>
            <a:br/>
            <a:pPr>
              <a:defRPr b="1" sz="1200">
                <a:solidFill>
                  <a:srgbClr val="EF4444"/>
                </a:solidFill>
                <a:latin typeface="Prompt"/>
              </a:defRPr>
            </a:pPr>
            <a:r>
              <a:t>• มาเยี่ยม 1 ครั้ง (รับกลับทันที):  ส่งคืน 16.6%</a:t>
            </a:r>
          </a:p>
          <a:p>
            <a:br/>
            <a:pPr>
              <a:defRPr b="1" sz="1200">
                <a:solidFill>
                  <a:srgbClr val="F59E0B"/>
                </a:solidFill>
                <a:latin typeface="Prompt"/>
              </a:defRPr>
            </a:pPr>
            <a:r>
              <a:t>• มาเยี่ยม 2 ครั้ง:  ส่งคืน 14.8%</a:t>
            </a:r>
          </a:p>
          <a:p>
            <a:br/>
            <a:pPr>
              <a:defRPr b="1" sz="1200">
                <a:solidFill>
                  <a:srgbClr val="06B6D4"/>
                </a:solidFill>
                <a:latin typeface="Prompt"/>
              </a:defRPr>
            </a:pPr>
            <a:r>
              <a:t>• มาเยี่ยม 3 ครั้ง:  ส่งคืน 12.5%</a:t>
            </a:r>
          </a:p>
          <a:p>
            <a:br/>
            <a:pPr>
              <a:defRPr b="1" sz="1200">
                <a:solidFill>
                  <a:srgbClr val="10B981"/>
                </a:solidFill>
                <a:latin typeface="Prompt"/>
              </a:defRPr>
            </a:pPr>
            <a:r>
              <a:t>• มาเยี่ยม 4 ครั้งขึ้นไป:  ส่งคืนเหลือ 10.9%</a:t>
            </a:r>
          </a:p>
          <a:p>
            <a:br/>
            <a:pPr>
              <a:defRPr sz="1100">
                <a:solidFill>
                  <a:srgbClr val="94A3B8"/>
                </a:solidFill>
                <a:latin typeface="Prompt"/>
              </a:defRPr>
            </a:pPr>
            <a:r>
              <a:t>📋 นอกจากนี้ การเข้ารับการอบรมให้คำปรึกษา (Adoption Counselling) ช่วยลดการส่งคืนลงได้ทันที 4-5%</a:t>
            </a:r>
          </a:p>
        </p:txBody>
      </p:sp>
      <p:pic>
        <p:nvPicPr>
          <p:cNvPr id="6" name="Picture 5" descr="05_visits_before_a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RISK VS PROTECTIVE FACTORS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ทอร์นาโดสรุปปัจจัยเสี่ยง vs ปัจจัยปกป้อง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เปรียบเทียบตัวแปรที่เพิ่มความเสี่ยงและเกราะคุ้มกันความสำเร็จ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F4444"/>
                </a:solidFill>
                <a:latin typeface="Prompt"/>
              </a:defRPr>
            </a:pPr>
            <a:r>
              <a:t>🔴 ปัจจัยเร่งความเสี่ยง (Risk Factors):</a:t>
            </a:r>
          </a:p>
          <a:p>
            <a:pPr>
              <a:defRPr sz="1100">
                <a:solidFill>
                  <a:srgbClr val="F8FAFC"/>
                </a:solidFill>
                <a:latin typeface="Prompt"/>
              </a:defRPr>
            </a:pPr>
            <a:r>
              <a:t>• Aggression Score (ความก้าวร้าว)</a:t>
            </a:r>
            <a:br/>
            <a:r>
              <a:t>• Separation Anxiety (ความวิตกกังวล)</a:t>
            </a:r>
            <a:br/>
            <a:r>
              <a:t>• Unrealistic Expectations (คาดหวังผิด)</a:t>
            </a:r>
            <a:br/>
            <a:r>
              <a:t>• Energy Mismatch (พลังงานไม่ตรง)</a:t>
            </a:r>
          </a:p>
          <a:p>
            <a:br/>
            <a:pPr>
              <a:defRPr b="1" sz="1300">
                <a:solidFill>
                  <a:srgbClr val="06B6D4"/>
                </a:solidFill>
                <a:latin typeface="Prompt"/>
              </a:defRPr>
            </a:pPr>
            <a:r>
              <a:t>🔵 เกราะคุ้มกันความสำเร็จ (Protective Factors):</a:t>
            </a:r>
          </a:p>
          <a:p>
            <a:pPr>
              <a:defRPr sz="1100">
                <a:solidFill>
                  <a:srgbClr val="F8FAFC"/>
                </a:solidFill>
                <a:latin typeface="Prompt"/>
              </a:defRPr>
            </a:pPr>
            <a:r>
              <a:t>• Training Level (การฝึกอบรมสุนัข)</a:t>
            </a:r>
            <a:br/>
            <a:r>
              <a:t>• House-training (ฝึกขับถ่ายเป็นที่)</a:t>
            </a:r>
            <a:br/>
            <a:r>
              <a:t>• Visits Before Adoption (จำนวนครั้งที่มาเยี่ยม)</a:t>
            </a:r>
            <a:br/>
            <a:r>
              <a:t>• Realistic Expectations (ความคาดหวังสมจริง)</a:t>
            </a:r>
          </a:p>
        </p:txBody>
      </p:sp>
      <p:pic>
        <p:nvPicPr>
          <p:cNvPr id="6" name="Picture 5" descr="19_correlation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ACTIONABLE ROADMAP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ยุทธศาสตร์ 3 ระยะเพื่อหยุดการส่งคืนสุนัขอย่างยั่งยืน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เปลี่ยนข้อค้นพบจากข้อมูล 42,000 เคส สู่แนวทางปฏิบัติจริง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11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366F1"/>
                </a:solidFill>
                <a:latin typeface="Prompt"/>
              </a:defRPr>
            </a:pPr>
            <a:r>
              <a:t>ระยะที่ 1: ก่อนรับเลี้ยง (Pre-Adoption)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การคัดกรองและปรับความคาดหวัง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บังคับให้พาหมาเดิมมา Meet &amp; Greet (แก้ 22% pet conflict)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กำหนดให้มาเยี่ยมสุนัขอย่างน้อย 2-3 ครั้ง (ลดส่งคืนสู่ 10.9%)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Counselling Session เพื่อปรับความคาดหวังให้สมจริง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Lifestyle &amp; Energy Matching ตรวจสอบความพร้อมที่พัก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  <a:latin typeface="Prompt"/>
              </a:defRPr>
            </a:pPr>
            <a:r>
              <a:t>ระยะที่ 2: ในสถานสงเคราะห์ (In-Shelter)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การลงทุนฝึกพฤติกรรมพื้นฐาน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จัดโปรแกรมการฝึกพื้นฐาน (ลดการส่งคืนได้ถึง 17.5%)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ฝึกขับถ่ายให้เป็นที่เป็นทาง (House-training)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โปรแกรมบำบัด Separation Anxiety ก่อนส่งมอบ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บันทึกคะแนนพฤติกรรมจริง ไม่ปกปิดข้อมูลเพื่อความโปร่งใส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75488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  <a:latin typeface="Prompt"/>
              </a:defRPr>
            </a:pPr>
            <a:r>
              <a:t>ระยะที่ 3: หลังรับเลี้ยง 14 วันแรก (Post-Adoption)</a:t>
            </a:r>
          </a:p>
          <a:p>
            <a:pPr>
              <a:defRPr sz="1000">
                <a:solidFill>
                  <a:srgbClr val="94A3B8"/>
                </a:solidFill>
                <a:latin typeface="Prompt"/>
              </a:defRPr>
            </a:pPr>
            <a:r>
              <a:t>หน้าต่างเวลาทอง (Golden Window)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โทรเช็กติดตามผลในวันที่ 3, 7, และ 14 (มัธยฐานส่งคืน = วันที่ 7)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สายด่วน Hotline ให้คำปรึกษาครูฝึกสุนัขฉุกเฉิน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บริการส่งครูฝึกไปช่วยแนะนำที่บ้านหากเริ่มมีพฤติกรรมก้าวร้าว</a:t>
            </a:r>
          </a:p>
          <a:p>
            <a:br/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✔ เครือข่ายชุมชนผู้รับเลี้ยงสนับสนุนทางอารมณ์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CONCLUSION &amp; Q&amp;A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บทสรุป: การรับเลี้ยงสุนัขคือพันธสัญญาแห่งความพร้อม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เปลี่ยนความสงสารชั่วคราว ให้เป็นความผูกพันตลอดชีวิต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b="1" sz="1500">
                <a:solidFill>
                  <a:srgbClr val="06B6D4"/>
                </a:solidFill>
                <a:latin typeface="Prompt"/>
              </a:defRPr>
            </a:pPr>
            <a:r>
              <a:t>1. 'It's about Matching, Not Charity' (การจับคู่สำคัญกว่าความสงสาร)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   ความสำเร็จไม่ได้ขึ้นกับความสงสารเพียงชั่ววูบ แต่ขึ้นกับความลงรอยกันของพลังงาน เวลา และสภาพแวดล้อมที่อยู่อาศัย</a:t>
            </a:r>
          </a:p>
          <a:p>
            <a:br/>
            <a:pPr>
              <a:defRPr b="1" sz="1500">
                <a:solidFill>
                  <a:srgbClr val="10B981"/>
                </a:solidFill>
                <a:latin typeface="Prompt"/>
              </a:defRPr>
            </a:pPr>
            <a:r>
              <a:t>2. 'Expectations Beat Experience' (ความคาดหวังชนะประสบการณ์)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   ผู้รับเลี้ยงมือใหม่สามารถประสบความสำเร็จได้สูงมาก เพียงแค่เข้าใจและเตรียมใจรับความจริงว่าสุนัขต้องการเวลาปรับตัว</a:t>
            </a:r>
          </a:p>
          <a:p>
            <a:br/>
            <a:pPr>
              <a:defRPr b="1" sz="1500">
                <a:solidFill>
                  <a:srgbClr val="06B6D4"/>
                </a:solidFill>
                <a:latin typeface="Prompt"/>
              </a:defRPr>
            </a:pPr>
            <a:r>
              <a:t>3. 'The 7-Day Golden Window' (สัปดาห์ทอง 7 วันแรก)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   หากเราสามารถช่วยให้ผู้รับเลี้ยงผ่านพ้น 1-2 สัปดาห์แรกไปได้ อัตราความสำเร็จจะสูงขึ้นเกิน 90% ทันที</a:t>
            </a:r>
          </a:p>
          <a:p>
            <a:br/>
            <a:pPr>
              <a:defRPr b="1" sz="1500">
                <a:solidFill>
                  <a:srgbClr val="10B981"/>
                </a:solidFill>
                <a:latin typeface="Prompt"/>
              </a:defRPr>
            </a:pPr>
            <a:r>
              <a:t>4. 'Training is the Best Investment' (การฝึกคือการลงทุนที่ดีที่สุด)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   การลงทุนฝึกพฤติกรรมพื้นฐานในสถานสงเคราะห์ ช่วยชีวิตสุนัขจากการถูกส่งคืนได้หลายพันตัว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Outfit"/>
              </a:defRPr>
            </a:pPr>
            <a:r>
              <a:t>EXECUTIVE SUMMARY DASHBOARD</a:t>
            </a:r>
          </a:p>
          <a:p>
            <a:pPr>
              <a:defRPr sz="2200" b="1">
                <a:solidFill>
                  <a:srgbClr val="F8FAFC"/>
                </a:solidFill>
                <a:latin typeface="Prompt"/>
              </a:defRPr>
            </a:pPr>
            <a:r>
              <a:t>หน้าสรุปผลการวิเคราะห์และข้อเสนอแนะเชิงยุทธศาสตร์</a:t>
            </a:r>
          </a:p>
          <a:p>
            <a:pPr>
              <a:defRPr sz="1200">
                <a:solidFill>
                  <a:srgbClr val="94A3B8"/>
                </a:solidFill>
                <a:latin typeface="Prompt"/>
              </a:defRPr>
            </a:pPr>
            <a:r>
              <a:t>รวบรวมตัวเลขชี้วัด สาเหตุหลัก เกราะป้องกัน และยุทธศาสตร์ 3 ระยะในหน้าเดียว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11480"/>
            <a:ext cx="731520" cy="320040"/>
          </a:xfrm>
          <a:prstGeom prst="roundRect">
            <a:avLst/>
          </a:prstGeom>
          <a:solidFill>
            <a:srgbClr val="131B2E"/>
          </a:solidFill>
          <a:ln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13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131B2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EF4444"/>
                </a:solidFill>
                <a:latin typeface="Prompt"/>
              </a:defRPr>
            </a:pPr>
            <a:r>
              <a:t>1. ข้อมูลภาพรวม &amp; ความสูญเสีย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วิเคราะห์จากชุดข้อมูลจริง: 42,000 เคส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อัตราสำเร็จถาวร: 85.0% (35,703 ครอบครัว)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อัตราส่งคืนสถานสงเคราะห์: 15.0% (6,297 ตัว)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สัดส่วนความล้มเหลว: 1 ในทุกๆ 7 ตัว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ค่ามัธยฐานการส่งคืน: 7 วันแรก (วิกฤตสัปดาห์แรก)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286000"/>
          </a:xfrm>
          <a:prstGeom prst="roundRect">
            <a:avLst/>
          </a:prstGeom>
          <a:solidFill>
            <a:srgbClr val="131B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  <a:latin typeface="Prompt"/>
              </a:defRPr>
            </a:pPr>
            <a:r>
              <a:t>2. 4 สาเหตุหลัก (ครองสัดส่วน &gt;71%)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อันดับ 1: ทะเลาะกับสัตว์เลี้ยงเดิม (22.0% - 1,387 ตัว)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อันดับ 2: พฤติกรรมก้าวร้าว/ดุร้าย (21.5% - 1,352 ตัว)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อันดับ 3: วิตกกังวล/ทำลายของ (15.5% - 975 ตัว)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อันดับ 4: ไม่เป็นไปตามคาดหวัง (11.9% - 750 ตัว)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แพ้ขน (3.8%) และหมาป่วย (5.0%) มีสัดส่วนน้อยมาก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286000"/>
          </a:xfrm>
          <a:prstGeom prst="roundRect">
            <a:avLst/>
          </a:prstGeom>
          <a:solidFill>
            <a:srgbClr val="131B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6B6D4"/>
                </a:solidFill>
                <a:latin typeface="Prompt"/>
              </a:defRPr>
            </a:pPr>
            <a:r>
              <a:t>3. เกราะคุ้มกัน &amp; ตัวคูณความเสี่ยง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0 พฤติกรรมเสี่ยง -&gt; ส่งคืนต่ำเพียง 9.2%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3 พฤติกรรมเสี่ยง -&gt; ส่งคืนพุ่งสูงถึง 40.2%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การฝึกสุนัข (Training) -&gt; ลดการส่งคืนลงได้ 17.5%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เยี่ยมชม 4 ครั้ง -&gt; ลดการส่งคืนเหลือ 10.9%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มือใหม่ที่คาดหวังสมจริง (9.4%) ชนะคนเคยเลี้ยง (16.6%)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5120640" cy="228600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  <a:latin typeface="Prompt"/>
              </a:defRPr>
            </a:pPr>
            <a:r>
              <a:t>4. ยุทธศาสตร์ 3 ระยะเพื่อผลลัพธ์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ก่อนรับ: บังคับ Meet &amp; Greet + เยี่ยม 2-3 ครั้ง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ในสถานสงเคราะห์: บังคับฝึกพฤติกรรมพื้นฐาน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หลังรับเลี้ยง: โทรเช็กวันที่ 3, 7, 14 + สายด่วนครูฝึก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เป้าหมาย: ลดอัตราการส่งคืนลง 50%</a:t>
            </a:r>
          </a:p>
          <a:p>
            <a:pPr>
              <a:defRPr sz="1000">
                <a:solidFill>
                  <a:srgbClr val="F8FAFC"/>
                </a:solidFill>
                <a:latin typeface="Prompt"/>
              </a:defRPr>
            </a:pPr>
            <a:r>
              <a:t>• เปลี่ยนจาก '1 ใน 7 ถูกทอดทิ้ง' สู่ 'บ้านถาวรตลอดไป'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